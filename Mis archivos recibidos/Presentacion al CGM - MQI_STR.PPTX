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304" r:id="rId5"/>
    <p:sldId id="308" r:id="rId6"/>
    <p:sldId id="273" r:id="rId7"/>
    <p:sldId id="283" r:id="rId8"/>
    <p:sldId id="311" r:id="rId9"/>
    <p:sldId id="293" r:id="rId10"/>
    <p:sldId id="274" r:id="rId11"/>
    <p:sldId id="302" r:id="rId12"/>
    <p:sldId id="301" r:id="rId13"/>
    <p:sldId id="303" r:id="rId14"/>
    <p:sldId id="305" r:id="rId15"/>
    <p:sldId id="300" r:id="rId16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147" autoAdjust="0"/>
    <p:restoredTop sz="93827" autoAdjust="0"/>
  </p:normalViewPr>
  <p:slideViewPr>
    <p:cSldViewPr>
      <p:cViewPr varScale="1">
        <p:scale>
          <a:sx n="68" d="100"/>
          <a:sy n="68" d="100"/>
        </p:scale>
        <p:origin x="852" y="6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0522BC-EC29-45EA-80DD-CD2D65F1D1B7}" type="datetimeFigureOut">
              <a:rPr lang="es-CO" smtClean="0"/>
              <a:pPr/>
              <a:t>16/08/2018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8D38D0-7222-4C8A-B2F6-D5C89A0E57B1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57830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026BAF-D390-479F-9785-BF435352187A}" type="slidenum">
              <a:rPr lang="es-CO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64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026BAF-D390-479F-9785-BF435352187A}" type="slidenum">
              <a:rPr lang="es-CO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81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8D38D0-7222-4C8A-B2F6-D5C89A0E57B1}" type="slidenum">
              <a:rPr lang="es-CO" smtClean="0"/>
              <a:pPr/>
              <a:t>5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12889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026BAF-D390-479F-9785-BF435352187A}" type="slidenum">
              <a:rPr lang="es-CO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076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026BAF-D390-479F-9785-BF435352187A}" type="slidenum">
              <a:rPr lang="es-CO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542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026BAF-D390-479F-9785-BF435352187A}" type="slidenum">
              <a:rPr lang="es-CO" smtClean="0">
                <a:solidFill>
                  <a:prstClr val="black"/>
                </a:solidFill>
              </a:rPr>
              <a:pPr>
                <a:defRPr/>
              </a:pPr>
              <a:t>12</a:t>
            </a:fld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529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1EC8D-F3F3-49B6-9105-F950B00DD11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4F4C-DF28-AB49-8D00-445D59FBAE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865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0457B-5839-42B3-9B03-DBC4EA6F935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4F4C-DF28-AB49-8D00-445D59FBAE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89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DDEF2-CBE0-4A45-BAEA-4D839C257CA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4F4C-DF28-AB49-8D00-445D59FBAE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787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D6C7-0024-4032-AC37-ADB39C6A53D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4F4C-DF28-AB49-8D00-445D59FBAE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51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7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2174877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3B63B-51E1-46A5-8950-FCE64AB3BB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4F4C-DF28-AB49-8D00-445D59FBAE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519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9A20D-6677-4215-9F90-2AFE3E2E841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4F4C-DF28-AB49-8D00-445D59FBAE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92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4928C-FB48-4D4E-9F01-18636191C22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4F4C-DF28-AB49-8D00-445D59FBAE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4031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73050"/>
            <a:ext cx="3008313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435103"/>
            <a:ext cx="3008313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1BF1-6450-4C87-9F65-1ADEF33579B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4F4C-DF28-AB49-8D00-445D59FBAE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702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7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1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7EC94-0A20-44A4-B984-7B2A2553F4B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4F4C-DF28-AB49-8D00-445D59FBAE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013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05EC5-4EDB-4A83-9780-4E8B3C05551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4F4C-DF28-AB49-8D00-445D59FBAE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22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57400" cy="5851525"/>
          </a:xfrm>
        </p:spPr>
        <p:txBody>
          <a:bodyPr vert="eaVert"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5160-F869-4767-9FDD-380FC59E8E8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4F4C-DF28-AB49-8D00-445D59FBAE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473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4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1EB8687C-D25F-4EB7-9F13-B76ABBBB5D8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8/16/2018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08F54F4C-DF28-AB49-8D00-445D59FBAE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‹Nº›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67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10" Type="http://schemas.openxmlformats.org/officeDocument/2006/relationships/slide" Target="slide11.xml"/><Relationship Id="rId4" Type="http://schemas.openxmlformats.org/officeDocument/2006/relationships/slide" Target="slide5.xml"/><Relationship Id="rId9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355" y="0"/>
            <a:ext cx="9144000" cy="6858000"/>
          </a:xfrm>
          <a:prstGeom prst="rect">
            <a:avLst/>
          </a:prstGeom>
        </p:spPr>
      </p:pic>
      <p:sp>
        <p:nvSpPr>
          <p:cNvPr id="6" name="Rectangle 25"/>
          <p:cNvSpPr txBox="1">
            <a:spLocks noChangeArrowheads="1"/>
          </p:cNvSpPr>
          <p:nvPr/>
        </p:nvSpPr>
        <p:spPr>
          <a:xfrm>
            <a:off x="973136" y="1301745"/>
            <a:ext cx="6624736" cy="1254001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Desarrollo de servicios 	STI entrega  al CGM,</a:t>
            </a:r>
          </a:p>
          <a:p>
            <a:r>
              <a:rPr lang="es-CO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STERLING</a:t>
            </a:r>
          </a:p>
        </p:txBody>
      </p:sp>
      <p:sp>
        <p:nvSpPr>
          <p:cNvPr id="7" name="Rectangle 26"/>
          <p:cNvSpPr txBox="1">
            <a:spLocks noChangeArrowheads="1"/>
          </p:cNvSpPr>
          <p:nvPr/>
        </p:nvSpPr>
        <p:spPr>
          <a:xfrm>
            <a:off x="233772" y="3140968"/>
            <a:ext cx="8676456" cy="17526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r>
              <a:rPr lang="es-E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Entrega CGM – </a:t>
            </a:r>
            <a:endParaRPr lang="es-CO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endParaRPr lang="es-CO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s-CO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2018/09/15</a:t>
            </a:r>
            <a:endParaRPr lang="es-E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856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6"/>
          <p:cNvSpPr txBox="1">
            <a:spLocks noChangeArrowheads="1"/>
          </p:cNvSpPr>
          <p:nvPr/>
        </p:nvSpPr>
        <p:spPr>
          <a:xfrm>
            <a:off x="827584" y="908720"/>
            <a:ext cx="7344816" cy="525658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3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CO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hlinkClick r:id="rId2" action="ppaction://hlinksldjump"/>
              </a:rPr>
              <a:t>Objetivo de la presentación</a:t>
            </a:r>
            <a:endParaRPr lang="es-CO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CO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hlinkClick r:id="rId3" action="ppaction://hlinksldjump"/>
              </a:rPr>
              <a:t>Descripción</a:t>
            </a:r>
            <a:endParaRPr lang="es-CO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  <a:p>
            <a:pPr marL="857250" lvl="1" indent="-457200">
              <a:lnSpc>
                <a:spcPct val="150000"/>
              </a:lnSpc>
              <a:spcBef>
                <a:spcPct val="0"/>
              </a:spcBef>
              <a:buFont typeface="+mj-lt"/>
              <a:buAutoNum type="alphaLcParenR"/>
            </a:pPr>
            <a:r>
              <a:rPr lang="es-CO" sz="18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hlinkClick r:id="rId4" action="ppaction://hlinksldjump"/>
              </a:rPr>
              <a:t>¿Qué se monitorea? </a:t>
            </a:r>
            <a:endParaRPr lang="es-CO" sz="18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CO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hlinkClick r:id="rId5" action="ppaction://hlinksldjump"/>
              </a:rPr>
              <a:t>Diagrama de Componentes</a:t>
            </a:r>
            <a:endParaRPr lang="es-CO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CO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hlinkClick r:id="rId6" action="ppaction://hlinksldjump"/>
              </a:rPr>
              <a:t>Diagrama de Telecomunicaciones </a:t>
            </a:r>
            <a:endParaRPr lang="es-CO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CO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hlinkClick r:id="rId7" action="ppaction://hlinksldjump"/>
              </a:rPr>
              <a:t>Matriz de Escalamiento</a:t>
            </a:r>
            <a:endParaRPr lang="es-CO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CO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hlinkClick r:id="rId6" action="ppaction://hlinksldjump"/>
              </a:rPr>
              <a:t>Escalamiento en USD</a:t>
            </a:r>
            <a:endParaRPr lang="es-CO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CO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hlinkClick r:id="rId8" action="ppaction://hlinksldjump"/>
              </a:rPr>
              <a:t>Plantilla de Notificaciones</a:t>
            </a:r>
            <a:endParaRPr lang="es-CO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CO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hlinkClick r:id="rId9" action="ppaction://hlinksldjump"/>
              </a:rPr>
              <a:t>Horario de Alertamiento y Funcionamiento</a:t>
            </a:r>
            <a:endParaRPr lang="es-CO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CO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hlinkClick r:id="rId10" action="ppaction://hlinksldjump"/>
              </a:rPr>
              <a:t>Documentación</a:t>
            </a:r>
            <a:endParaRPr lang="es-CO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  <a:p>
            <a:pPr marL="457200" indent="-457200">
              <a:spcBef>
                <a:spcPct val="0"/>
              </a:spcBef>
              <a:buFont typeface="+mj-lt"/>
              <a:buAutoNum type="arabicPeriod"/>
            </a:pPr>
            <a:endParaRPr lang="es-CO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  <a:p>
            <a:pPr marL="457200" indent="-457200">
              <a:spcBef>
                <a:spcPct val="0"/>
              </a:spcBef>
              <a:buFont typeface="+mj-lt"/>
              <a:buAutoNum type="arabicPeriod"/>
            </a:pPr>
            <a:endParaRPr lang="es-CO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  <a:p>
            <a:pPr marL="457200" indent="-457200">
              <a:spcBef>
                <a:spcPct val="0"/>
              </a:spcBef>
              <a:buFont typeface="+mj-lt"/>
              <a:buAutoNum type="arabicPeriod"/>
            </a:pPr>
            <a:endParaRPr lang="es-CO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  <a:p>
            <a:pPr marL="457200" indent="-457200">
              <a:spcBef>
                <a:spcPct val="0"/>
              </a:spcBef>
              <a:buFont typeface="+mj-lt"/>
              <a:buAutoNum type="arabicPeriod"/>
            </a:pPr>
            <a:endParaRPr lang="es-ES" sz="24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8" name="1 Rectángulo"/>
          <p:cNvSpPr/>
          <p:nvPr/>
        </p:nvSpPr>
        <p:spPr>
          <a:xfrm>
            <a:off x="-108520" y="260648"/>
            <a:ext cx="64807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031" lvl="1"/>
            <a:r>
              <a:rPr lang="es-ES" sz="2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CONTENIDO</a:t>
            </a:r>
            <a:endParaRPr lang="es-ES" sz="2000" b="1" kern="0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759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-396552" y="41777"/>
            <a:ext cx="37444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031" lvl="1" algn="r"/>
            <a:r>
              <a:rPr lang="es-ES" sz="24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Objetivo Presentación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395" y="0"/>
            <a:ext cx="2160605" cy="1006884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395536" y="1988840"/>
            <a:ext cx="82809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sz="2000" dirty="0"/>
              <a:t>Oficializar la entrega de las instancias del servicio STR las diferentes áreas e iniciar el monitoreo oficial desde el Centro de Gestión y Monitoreo (CGM).</a:t>
            </a:r>
          </a:p>
        </p:txBody>
      </p:sp>
    </p:spTree>
    <p:extLst>
      <p:ext uri="{BB962C8B-B14F-4D97-AF65-F5344CB8AC3E}">
        <p14:creationId xmlns:p14="http://schemas.microsoft.com/office/powerpoint/2010/main" val="1340479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presentacion-banco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8 Rectángulo"/>
          <p:cNvSpPr/>
          <p:nvPr/>
        </p:nvSpPr>
        <p:spPr>
          <a:xfrm>
            <a:off x="-468560" y="44624"/>
            <a:ext cx="77403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031" lvl="1"/>
            <a:r>
              <a:rPr lang="es-CO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Descripción Landing Zone</a:t>
            </a:r>
            <a:endParaRPr lang="es-ES" sz="2000" b="1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1 Rectángulo"/>
          <p:cNvSpPr/>
          <p:nvPr/>
        </p:nvSpPr>
        <p:spPr>
          <a:xfrm>
            <a:off x="251520" y="1315469"/>
            <a:ext cx="8404974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US" sz="2400" b="1" dirty="0"/>
              <a:t>¿Qué hace y como beneficia al cliente y/o usuario?</a:t>
            </a:r>
          </a:p>
          <a:p>
            <a:pPr algn="just"/>
            <a:r>
              <a:rPr lang="es-US" sz="2000" dirty="0"/>
              <a:t>Este servicio será utilizado para realizar envió de información desde iSeries a MQ a través del servidor comunicacional MQI STR para que sea procesada por Sterling</a:t>
            </a:r>
          </a:p>
          <a:p>
            <a:pPr algn="just"/>
            <a:endParaRPr lang="es-CO" sz="2400" b="1" dirty="0"/>
          </a:p>
          <a:p>
            <a:pPr algn="just"/>
            <a:r>
              <a:rPr lang="es-CO" sz="2400" b="1" dirty="0"/>
              <a:t>¿Quién lo utiliza?</a:t>
            </a:r>
          </a:p>
          <a:p>
            <a:pPr algn="just"/>
            <a:r>
              <a:rPr lang="es-CO" sz="2000" dirty="0"/>
              <a:t>Será inicializado desde WEBOTAC en iSeries Medellín, este componente es transversal a todos los aplicativos del Banco</a:t>
            </a:r>
          </a:p>
          <a:p>
            <a:pPr algn="just"/>
            <a:endParaRPr lang="es-CO" sz="2400" b="1" dirty="0">
              <a:solidFill>
                <a:srgbClr val="FF0000"/>
              </a:solidFill>
            </a:endParaRPr>
          </a:p>
          <a:p>
            <a:pPr algn="just"/>
            <a:r>
              <a:rPr lang="es-CO" sz="2400" b="1" dirty="0"/>
              <a:t>¿Cuántos usuarios lo utilizan?</a:t>
            </a:r>
          </a:p>
          <a:p>
            <a:pPr algn="just"/>
            <a:r>
              <a:rPr lang="es-CO" sz="2000" dirty="0"/>
              <a:t>Aproximadamente 1000.  (los usuarios que hoy utilizan TAC)</a:t>
            </a:r>
          </a:p>
          <a:p>
            <a:pPr algn="just"/>
            <a:endParaRPr lang="es-US" sz="2400" b="1" dirty="0"/>
          </a:p>
          <a:p>
            <a:pPr algn="just"/>
            <a:r>
              <a:rPr lang="es-US" sz="2400" b="1" dirty="0"/>
              <a:t>¿Cómo se impacta al cliente o usuario final cuando falla el servicio? </a:t>
            </a:r>
          </a:p>
          <a:p>
            <a:pPr algn="just"/>
            <a:r>
              <a:rPr lang="es-CO" sz="2000" dirty="0"/>
              <a:t>No se podrán realizar transmisiones invocadas desde WEBOTAC.</a:t>
            </a:r>
            <a:endParaRPr lang="es-CO" sz="2600" b="1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83395" y="0"/>
            <a:ext cx="2160605" cy="100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364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resentacion-banco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83395" y="0"/>
            <a:ext cx="2160605" cy="1006884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28161" y="72555"/>
            <a:ext cx="288032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¿Qué se monitorea?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203197" y="6309320"/>
            <a:ext cx="4521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/>
              <a:t>Para mayor detalle remitirse a los AMM’s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95536" y="2420414"/>
            <a:ext cx="79928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Se realiza monitoreo de los JOBS STRCO01000 al </a:t>
            </a:r>
            <a:r>
              <a:rPr lang="es-CO" dirty="0" err="1"/>
              <a:t>job</a:t>
            </a:r>
            <a:r>
              <a:rPr lang="es-CO" dirty="0"/>
              <a:t> STRCO01002 y adicional las colas MQ INT_STERLING_INT.QL.REQ en los QM PCOLQMGRCORP01 (1420) y PCOLQMGRCORP02 (1421) de los servidores pbmdebqmeb03 (10.8.73.184) y pbmdebqmeb04 (10.8.73.185) respectivamente. </a:t>
            </a:r>
          </a:p>
        </p:txBody>
      </p:sp>
    </p:spTree>
    <p:extLst>
      <p:ext uri="{BB962C8B-B14F-4D97-AF65-F5344CB8AC3E}">
        <p14:creationId xmlns:p14="http://schemas.microsoft.com/office/powerpoint/2010/main" val="2634095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402AB56-F7DE-44EF-B309-E0379236B978}"/>
              </a:ext>
            </a:extLst>
          </p:cNvPr>
          <p:cNvSpPr/>
          <p:nvPr/>
        </p:nvSpPr>
        <p:spPr>
          <a:xfrm>
            <a:off x="683568" y="1484784"/>
            <a:ext cx="3744416" cy="46085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9" name="Imagen 8" descr="presentacion-banco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3" name="12 Rectángulo"/>
          <p:cNvSpPr/>
          <p:nvPr/>
        </p:nvSpPr>
        <p:spPr>
          <a:xfrm>
            <a:off x="-1188640" y="28550"/>
            <a:ext cx="45365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031" lvl="1" algn="r"/>
            <a:r>
              <a:rPr lang="es-CO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Diagrama de Componentes</a:t>
            </a:r>
            <a:endParaRPr lang="es-ES" sz="20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83395" y="0"/>
            <a:ext cx="2160605" cy="1006884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EAF9421-4081-4D96-B20D-F5CC60896504}"/>
              </a:ext>
            </a:extLst>
          </p:cNvPr>
          <p:cNvSpPr/>
          <p:nvPr/>
        </p:nvSpPr>
        <p:spPr>
          <a:xfrm>
            <a:off x="323199" y="1599442"/>
            <a:ext cx="3240689" cy="2016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/>
              <a:t>Iseries</a:t>
            </a:r>
            <a:endParaRPr lang="es-CO" dirty="0"/>
          </a:p>
          <a:p>
            <a:pPr algn="ctr"/>
            <a:endParaRPr lang="es-CO" dirty="0"/>
          </a:p>
          <a:p>
            <a:pPr algn="ctr"/>
            <a:endParaRPr lang="es-CO" dirty="0"/>
          </a:p>
          <a:p>
            <a:pPr algn="ctr"/>
            <a:endParaRPr lang="es-CO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32CAFAD-CCC8-4785-AE8B-9728AC43A4C6}"/>
              </a:ext>
            </a:extLst>
          </p:cNvPr>
          <p:cNvSpPr/>
          <p:nvPr/>
        </p:nvSpPr>
        <p:spPr>
          <a:xfrm>
            <a:off x="431540" y="2480945"/>
            <a:ext cx="1247216" cy="64080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WEBOTAC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5F8DEB9-9A37-4E31-B68C-17D84187D400}"/>
              </a:ext>
            </a:extLst>
          </p:cNvPr>
          <p:cNvSpPr/>
          <p:nvPr/>
        </p:nvSpPr>
        <p:spPr>
          <a:xfrm>
            <a:off x="2001955" y="2449386"/>
            <a:ext cx="1296144" cy="60144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MQI-STR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F717C9C-D030-4157-8651-C6B4E1089E1C}"/>
              </a:ext>
            </a:extLst>
          </p:cNvPr>
          <p:cNvSpPr/>
          <p:nvPr/>
        </p:nvSpPr>
        <p:spPr>
          <a:xfrm>
            <a:off x="4803529" y="1542636"/>
            <a:ext cx="3528392" cy="20162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WMB</a:t>
            </a:r>
          </a:p>
          <a:p>
            <a:pPr algn="ctr"/>
            <a:endParaRPr lang="es-CO" dirty="0"/>
          </a:p>
          <a:p>
            <a:pPr algn="ctr"/>
            <a:endParaRPr lang="es-CO" dirty="0"/>
          </a:p>
          <a:p>
            <a:pPr algn="ctr"/>
            <a:endParaRPr lang="es-CO" dirty="0"/>
          </a:p>
          <a:p>
            <a:pPr algn="ctr"/>
            <a:endParaRPr lang="es-CO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B1BED704-8247-45D9-9426-6D517B10FFD9}"/>
              </a:ext>
            </a:extLst>
          </p:cNvPr>
          <p:cNvSpPr/>
          <p:nvPr/>
        </p:nvSpPr>
        <p:spPr>
          <a:xfrm>
            <a:off x="5583262" y="2320920"/>
            <a:ext cx="2132802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PCOLQMGRCORP01 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EB76A33-E4CD-446F-8E1F-EEBE77BA601F}"/>
              </a:ext>
            </a:extLst>
          </p:cNvPr>
          <p:cNvSpPr/>
          <p:nvPr/>
        </p:nvSpPr>
        <p:spPr>
          <a:xfrm>
            <a:off x="5616624" y="2971800"/>
            <a:ext cx="2132802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PCOLQMGRCORP02 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F4AA891-CEB3-4413-BE62-0372B94A09EA}"/>
              </a:ext>
            </a:extLst>
          </p:cNvPr>
          <p:cNvSpPr/>
          <p:nvPr/>
        </p:nvSpPr>
        <p:spPr>
          <a:xfrm>
            <a:off x="323199" y="4083301"/>
            <a:ext cx="3528392" cy="23070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Sterling</a:t>
            </a:r>
          </a:p>
          <a:p>
            <a:pPr algn="ctr"/>
            <a:endParaRPr lang="es-CO" dirty="0"/>
          </a:p>
          <a:p>
            <a:pPr algn="ctr"/>
            <a:endParaRPr lang="es-CO" dirty="0"/>
          </a:p>
          <a:p>
            <a:pPr algn="ctr"/>
            <a:endParaRPr lang="es-CO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537508B-2826-49C6-A059-E164B23823DC}"/>
              </a:ext>
            </a:extLst>
          </p:cNvPr>
          <p:cNvSpPr/>
          <p:nvPr/>
        </p:nvSpPr>
        <p:spPr>
          <a:xfrm>
            <a:off x="967242" y="5042661"/>
            <a:ext cx="2056257" cy="39361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pbmdebpaft01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791ABAF3-3EB1-470F-AA7B-0E87C2A0F4D3}"/>
              </a:ext>
            </a:extLst>
          </p:cNvPr>
          <p:cNvSpPr/>
          <p:nvPr/>
        </p:nvSpPr>
        <p:spPr>
          <a:xfrm>
            <a:off x="967241" y="5603714"/>
            <a:ext cx="2056257" cy="39361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pbmdebpaft02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E75BD9B8-9E09-4C33-8A54-EAD61E320C3C}"/>
              </a:ext>
            </a:extLst>
          </p:cNvPr>
          <p:cNvCxnSpPr>
            <a:cxnSpLocks/>
          </p:cNvCxnSpPr>
          <p:nvPr/>
        </p:nvCxnSpPr>
        <p:spPr>
          <a:xfrm>
            <a:off x="1652583" y="2726879"/>
            <a:ext cx="375545" cy="2322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AA049BE1-B47A-4EF0-957D-46E847288F28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 flipV="1">
            <a:off x="3298099" y="2549520"/>
            <a:ext cx="2285163" cy="2005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A0F2E243-632C-4E8D-A4CC-7BF2AF9BC00A}"/>
              </a:ext>
            </a:extLst>
          </p:cNvPr>
          <p:cNvCxnSpPr>
            <a:stCxn id="11" idx="3"/>
            <a:endCxn id="16" idx="1"/>
          </p:cNvCxnSpPr>
          <p:nvPr/>
        </p:nvCxnSpPr>
        <p:spPr>
          <a:xfrm>
            <a:off x="3298099" y="2750108"/>
            <a:ext cx="2318525" cy="4502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9113AB9A-DE2A-4AB0-9013-4029BF3D5287}"/>
              </a:ext>
            </a:extLst>
          </p:cNvPr>
          <p:cNvCxnSpPr>
            <a:cxnSpLocks/>
            <a:endCxn id="18" idx="3"/>
          </p:cNvCxnSpPr>
          <p:nvPr/>
        </p:nvCxnSpPr>
        <p:spPr>
          <a:xfrm rot="10800000" flipV="1">
            <a:off x="3023499" y="2453889"/>
            <a:ext cx="4699599" cy="3346632"/>
          </a:xfrm>
          <a:prstGeom prst="bentConnector3">
            <a:avLst>
              <a:gd name="adj1" fmla="val -21242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: angular 42">
            <a:extLst>
              <a:ext uri="{FF2B5EF4-FFF2-40B4-BE49-F238E27FC236}">
                <a16:creationId xmlns:a16="http://schemas.microsoft.com/office/drawing/2014/main" id="{12EC4EC3-31F2-4E63-AD1A-5C8309F44720}"/>
              </a:ext>
            </a:extLst>
          </p:cNvPr>
          <p:cNvCxnSpPr>
            <a:cxnSpLocks/>
            <a:endCxn id="6" idx="3"/>
          </p:cNvCxnSpPr>
          <p:nvPr/>
        </p:nvCxnSpPr>
        <p:spPr>
          <a:xfrm rot="10800000" flipV="1">
            <a:off x="3023500" y="3274124"/>
            <a:ext cx="4678503" cy="1965344"/>
          </a:xfrm>
          <a:prstGeom prst="bentConnector3">
            <a:avLst>
              <a:gd name="adj1" fmla="val -10438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: angular 44">
            <a:extLst>
              <a:ext uri="{FF2B5EF4-FFF2-40B4-BE49-F238E27FC236}">
                <a16:creationId xmlns:a16="http://schemas.microsoft.com/office/drawing/2014/main" id="{32BF1199-D56B-4614-BD83-9BBC156C86FF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49208" y="3339672"/>
            <a:ext cx="4635049" cy="2654529"/>
          </a:xfrm>
          <a:prstGeom prst="bentConnector3">
            <a:avLst>
              <a:gd name="adj1" fmla="val -15557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: angular 55">
            <a:extLst>
              <a:ext uri="{FF2B5EF4-FFF2-40B4-BE49-F238E27FC236}">
                <a16:creationId xmlns:a16="http://schemas.microsoft.com/office/drawing/2014/main" id="{C237B0BA-4455-4903-96C6-2137EC988A8E}"/>
              </a:ext>
            </a:extLst>
          </p:cNvPr>
          <p:cNvCxnSpPr>
            <a:stCxn id="14" idx="3"/>
          </p:cNvCxnSpPr>
          <p:nvPr/>
        </p:nvCxnSpPr>
        <p:spPr>
          <a:xfrm flipH="1">
            <a:off x="3023498" y="2549520"/>
            <a:ext cx="4692566" cy="2586559"/>
          </a:xfrm>
          <a:prstGeom prst="bentConnector3">
            <a:avLst>
              <a:gd name="adj1" fmla="val -18362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413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presentacion-banco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6 Rectángulo"/>
          <p:cNvSpPr/>
          <p:nvPr/>
        </p:nvSpPr>
        <p:spPr>
          <a:xfrm>
            <a:off x="-396552" y="26292"/>
            <a:ext cx="43924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031" lvl="1"/>
            <a:r>
              <a:rPr lang="es-CO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Matriz de Escalamiento</a:t>
            </a:r>
            <a:endParaRPr lang="es-ES" sz="20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83395" y="0"/>
            <a:ext cx="2160605" cy="1006884"/>
          </a:xfrm>
          <a:prstGeom prst="rect">
            <a:avLst/>
          </a:prstGeom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F8FD5CA-BDDC-4E8F-A8DF-52B31C0D1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605720"/>
              </p:ext>
            </p:extLst>
          </p:nvPr>
        </p:nvGraphicFramePr>
        <p:xfrm>
          <a:off x="539552" y="2331720"/>
          <a:ext cx="777686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981">
                  <a:extLst>
                    <a:ext uri="{9D8B030D-6E8A-4147-A177-3AD203B41FA5}">
                      <a16:colId xmlns:a16="http://schemas.microsoft.com/office/drawing/2014/main" val="3710828625"/>
                    </a:ext>
                  </a:extLst>
                </a:gridCol>
                <a:gridCol w="1110981">
                  <a:extLst>
                    <a:ext uri="{9D8B030D-6E8A-4147-A177-3AD203B41FA5}">
                      <a16:colId xmlns:a16="http://schemas.microsoft.com/office/drawing/2014/main" val="2539557526"/>
                    </a:ext>
                  </a:extLst>
                </a:gridCol>
                <a:gridCol w="1110981">
                  <a:extLst>
                    <a:ext uri="{9D8B030D-6E8A-4147-A177-3AD203B41FA5}">
                      <a16:colId xmlns:a16="http://schemas.microsoft.com/office/drawing/2014/main" val="3370577580"/>
                    </a:ext>
                  </a:extLst>
                </a:gridCol>
                <a:gridCol w="1110981">
                  <a:extLst>
                    <a:ext uri="{9D8B030D-6E8A-4147-A177-3AD203B41FA5}">
                      <a16:colId xmlns:a16="http://schemas.microsoft.com/office/drawing/2014/main" val="2613314713"/>
                    </a:ext>
                  </a:extLst>
                </a:gridCol>
                <a:gridCol w="1110981">
                  <a:extLst>
                    <a:ext uri="{9D8B030D-6E8A-4147-A177-3AD203B41FA5}">
                      <a16:colId xmlns:a16="http://schemas.microsoft.com/office/drawing/2014/main" val="740242272"/>
                    </a:ext>
                  </a:extLst>
                </a:gridCol>
                <a:gridCol w="1110981">
                  <a:extLst>
                    <a:ext uri="{9D8B030D-6E8A-4147-A177-3AD203B41FA5}">
                      <a16:colId xmlns:a16="http://schemas.microsoft.com/office/drawing/2014/main" val="2029866036"/>
                    </a:ext>
                  </a:extLst>
                </a:gridCol>
                <a:gridCol w="1110981">
                  <a:extLst>
                    <a:ext uri="{9D8B030D-6E8A-4147-A177-3AD203B41FA5}">
                      <a16:colId xmlns:a16="http://schemas.microsoft.com/office/drawing/2014/main" val="29875565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 sz="1200" dirty="0"/>
                        <a:t>Analista Solucionador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CO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Teléfono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CO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Cuenta de Correo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CO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Horario de atención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CO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Grupo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Elemento de Configuración</a:t>
                      </a:r>
                    </a:p>
                    <a:p>
                      <a:pPr marL="0" algn="l" defTabSz="457200" rtl="0" eaLnBrk="1" latinLnBrk="0" hangingPunct="1"/>
                      <a:endParaRPr lang="es-CO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CO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Cartelera </a:t>
                      </a:r>
                      <a:r>
                        <a:rPr lang="es-CO" sz="12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Stanby</a:t>
                      </a:r>
                      <a:endParaRPr lang="es-CO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67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400" dirty="0" err="1"/>
                        <a:t>Stanby</a:t>
                      </a:r>
                      <a:r>
                        <a:rPr lang="es-CO" sz="1400" dirty="0"/>
                        <a:t> Integración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3115332927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Soporte y Calidad Desarrollo Servicios Desarrollo Servicios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Sterling File Gateway_AW1205001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800" dirty="0"/>
                        <a:t>http://vsc.bancolombia.corp/vsti/Lists/Procesos/DispForm.aspx?ID=12439&amp;Source=http%3A%2F%2Fvsc%2Ebancolombia%2Ecorp%2Fvsti%2FLists%2FProcesos%2FAmbientes%2Easpx&amp;ContentTypeId=0x0100BBE26441A64A884E84F3E1017CC62D89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622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6730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presentacion-banco3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384"/>
            <a:ext cx="9144000" cy="6858000"/>
          </a:xfrm>
          <a:prstGeom prst="rect">
            <a:avLst/>
          </a:prstGeom>
        </p:spPr>
      </p:pic>
      <p:sp>
        <p:nvSpPr>
          <p:cNvPr id="2" name="1 Rectángulo"/>
          <p:cNvSpPr/>
          <p:nvPr/>
        </p:nvSpPr>
        <p:spPr>
          <a:xfrm>
            <a:off x="-756592" y="41777"/>
            <a:ext cx="39239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031" lvl="1" algn="r"/>
            <a:r>
              <a:rPr lang="es-CO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Escalamiento en USD</a:t>
            </a:r>
            <a:endParaRPr lang="es-ES" sz="24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938685"/>
              </p:ext>
            </p:extLst>
          </p:nvPr>
        </p:nvGraphicFramePr>
        <p:xfrm>
          <a:off x="755576" y="2204864"/>
          <a:ext cx="765606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5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 sz="2000" b="0" i="1" dirty="0">
                          <a:solidFill>
                            <a:schemeClr val="tx1"/>
                          </a:solidFill>
                        </a:rPr>
                        <a:t>Área de incidente</a:t>
                      </a:r>
                      <a:endParaRPr lang="es-CO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>
                          <a:solidFill>
                            <a:schemeClr val="tx1"/>
                          </a:solidFill>
                        </a:rPr>
                        <a:t>Desarrollo</a:t>
                      </a:r>
                      <a:r>
                        <a:rPr lang="es-CO" sz="1800" baseline="0" dirty="0">
                          <a:solidFill>
                            <a:schemeClr val="tx1"/>
                          </a:solidFill>
                        </a:rPr>
                        <a:t> de Servicios</a:t>
                      </a:r>
                      <a:endParaRPr lang="es-CO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000" i="1" dirty="0"/>
                        <a:t>Grupo a escalar en USD</a:t>
                      </a:r>
                      <a:endParaRPr lang="es-CO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Soporte y Calidad Desarrollo Servicios Desarrollo Servicios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000" i="1" dirty="0"/>
                        <a:t>Elemento de configuración</a:t>
                      </a:r>
                      <a:endParaRPr lang="es-CO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Sterling File Gateway_AW1205001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000" i="1" dirty="0"/>
                        <a:t>Síntoma</a:t>
                      </a:r>
                      <a:endParaRPr lang="es-CO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solidFill>
                            <a:schemeClr val="tx1"/>
                          </a:solidFill>
                        </a:rPr>
                        <a:t>Instancia</a:t>
                      </a:r>
                      <a:r>
                        <a:rPr lang="es-CO" sz="2000" baseline="0" dirty="0">
                          <a:solidFill>
                            <a:schemeClr val="tx1"/>
                          </a:solidFill>
                        </a:rPr>
                        <a:t> con estado en mensaje</a:t>
                      </a:r>
                      <a:endParaRPr lang="es-CO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83395" y="0"/>
            <a:ext cx="2160605" cy="100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859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presentacion-banco3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1 Rectángulo"/>
          <p:cNvSpPr/>
          <p:nvPr/>
        </p:nvSpPr>
        <p:spPr>
          <a:xfrm>
            <a:off x="-396552" y="33681"/>
            <a:ext cx="43347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031" lvl="1"/>
            <a:r>
              <a:rPr lang="es-CO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Plantilla de notificaciones</a:t>
            </a:r>
            <a:endParaRPr lang="es-ES" sz="20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83395" y="0"/>
            <a:ext cx="2160605" cy="1006884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708920"/>
            <a:ext cx="9170067" cy="3717032"/>
          </a:xfrm>
          <a:prstGeom prst="rect">
            <a:avLst/>
          </a:prstGeom>
        </p:spPr>
      </p:pic>
      <p:sp>
        <p:nvSpPr>
          <p:cNvPr id="11" name="Rectángulo 10"/>
          <p:cNvSpPr/>
          <p:nvPr/>
        </p:nvSpPr>
        <p:spPr>
          <a:xfrm>
            <a:off x="264552" y="1160143"/>
            <a:ext cx="8640959" cy="120032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FF0000"/>
                </a:solidFill>
              </a:rPr>
              <a:t>Consultar con el analista de</a:t>
            </a:r>
            <a:r>
              <a:rPr lang="es-CO" b="1" dirty="0">
                <a:solidFill>
                  <a:srgbClr val="FF0000"/>
                </a:solidFill>
              </a:rPr>
              <a:t> </a:t>
            </a:r>
            <a:r>
              <a:rPr lang="es-CO" i="1" dirty="0">
                <a:solidFill>
                  <a:srgbClr val="FF0000"/>
                </a:solidFill>
              </a:rPr>
              <a:t>servicio (DDS)</a:t>
            </a:r>
            <a:r>
              <a:rPr lang="es-CO" dirty="0">
                <a:solidFill>
                  <a:srgbClr val="FF0000"/>
                </a:solidFill>
              </a:rPr>
              <a:t> sobre la plantilla de notificación, diligenciar y adjuntar. Adicionalmente, mencionar como se encuentra en USM la plantilla.</a:t>
            </a:r>
            <a:endParaRPr lang="es-CO" i="1" dirty="0">
              <a:solidFill>
                <a:srgbClr val="FF0000"/>
              </a:solidFill>
            </a:endParaRPr>
          </a:p>
          <a:p>
            <a:endParaRPr lang="es-CO" b="1" dirty="0">
              <a:solidFill>
                <a:srgbClr val="FF0000"/>
              </a:solidFill>
            </a:endParaRPr>
          </a:p>
          <a:p>
            <a:pPr algn="ctr"/>
            <a:r>
              <a:rPr lang="es-CO" b="1" dirty="0">
                <a:solidFill>
                  <a:srgbClr val="FF0000"/>
                </a:solidFill>
              </a:rPr>
              <a:t>Esto es un ejemplo de una plantilla de Notificación:</a:t>
            </a:r>
          </a:p>
        </p:txBody>
      </p:sp>
    </p:spTree>
    <p:extLst>
      <p:ext uri="{BB962C8B-B14F-4D97-AF65-F5344CB8AC3E}">
        <p14:creationId xmlns:p14="http://schemas.microsoft.com/office/powerpoint/2010/main" val="3453556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presentacion-banco3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1 Rectángulo"/>
          <p:cNvSpPr/>
          <p:nvPr/>
        </p:nvSpPr>
        <p:spPr>
          <a:xfrm>
            <a:off x="-324544" y="0"/>
            <a:ext cx="64087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031" lvl="1"/>
            <a:r>
              <a:rPr lang="es-CO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Horario de Alertamiento y </a:t>
            </a:r>
          </a:p>
          <a:p>
            <a:pPr marL="457031" lvl="1"/>
            <a:r>
              <a:rPr lang="es-CO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Funcionamiento</a:t>
            </a:r>
            <a:endParaRPr lang="es-ES" sz="20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61395"/>
              </p:ext>
            </p:extLst>
          </p:nvPr>
        </p:nvGraphicFramePr>
        <p:xfrm>
          <a:off x="251520" y="2169478"/>
          <a:ext cx="8568952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6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O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000" i="1" dirty="0"/>
                        <a:t>Horario de Alertamiento del servicio</a:t>
                      </a:r>
                      <a:endParaRPr lang="es-CO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800" dirty="0">
                          <a:solidFill>
                            <a:schemeClr val="tx1"/>
                          </a:solidFill>
                        </a:rPr>
                        <a:t>7 X 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000" i="1" dirty="0"/>
                        <a:t>Horario de promesa del servicio</a:t>
                      </a:r>
                      <a:endParaRPr lang="es-CO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solidFill>
                            <a:schemeClr val="tx1"/>
                          </a:solidFill>
                        </a:rPr>
                        <a:t>7 X 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000" dirty="0"/>
                        <a:t>Ventana de Mantenimiento </a:t>
                      </a:r>
                      <a:r>
                        <a:rPr lang="es-CO" sz="2000" i="1" dirty="0"/>
                        <a:t>del servicio</a:t>
                      </a:r>
                      <a:endParaRPr lang="es-CO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>
                          <a:solidFill>
                            <a:schemeClr val="tx1"/>
                          </a:solidFill>
                        </a:rPr>
                        <a:t>No aplica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000" dirty="0"/>
                        <a:t>Cierre del servicio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800" dirty="0">
                          <a:solidFill>
                            <a:schemeClr val="tx1"/>
                          </a:solidFill>
                        </a:rPr>
                        <a:t>Lunes – Domingo</a:t>
                      </a:r>
                      <a:r>
                        <a:rPr lang="es-CO" sz="1800" baseline="0" dirty="0">
                          <a:solidFill>
                            <a:schemeClr val="tx1"/>
                          </a:solidFill>
                        </a:rPr>
                        <a:t> 03:00 am – 03:30 am&gt;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83395" y="0"/>
            <a:ext cx="2160605" cy="100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608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presentacion-banco3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1 Rectángulo"/>
          <p:cNvSpPr/>
          <p:nvPr/>
        </p:nvSpPr>
        <p:spPr>
          <a:xfrm>
            <a:off x="-540568" y="0"/>
            <a:ext cx="33127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031" lvl="1" algn="r"/>
            <a:r>
              <a:rPr lang="es-CO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Documentación</a:t>
            </a:r>
            <a:endParaRPr lang="es-ES" sz="28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83395" y="0"/>
            <a:ext cx="2160605" cy="1006884"/>
          </a:xfrm>
          <a:prstGeom prst="rect">
            <a:avLst/>
          </a:prstGeom>
        </p:spPr>
      </p:pic>
      <p:graphicFrame>
        <p:nvGraphicFramePr>
          <p:cNvPr id="9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66658"/>
              </p:ext>
            </p:extLst>
          </p:nvPr>
        </p:nvGraphicFramePr>
        <p:xfrm>
          <a:off x="395536" y="1916832"/>
          <a:ext cx="8280920" cy="339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4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 sz="1800" b="0" i="1" dirty="0">
                          <a:solidFill>
                            <a:schemeClr val="tx1"/>
                          </a:solidFill>
                        </a:rPr>
                        <a:t>Manual de soporte infraestructura</a:t>
                      </a:r>
                      <a:endParaRPr lang="es-CO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CO" sz="18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N.A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i="1" dirty="0"/>
                        <a:t>Matriz de</a:t>
                      </a:r>
                      <a:r>
                        <a:rPr lang="es-CO" sz="1800" i="1" baseline="0" dirty="0"/>
                        <a:t> contactos y notificaciones</a:t>
                      </a:r>
                      <a:endParaRPr lang="es-CO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http://wikiti/wikiti/index.php/Archivo:Contactos_y_Notificaciones_Sterling.xlsx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168">
                <a:tc>
                  <a:txBody>
                    <a:bodyPr/>
                    <a:lstStyle/>
                    <a:p>
                      <a:r>
                        <a:rPr lang="es-CO" sz="1800" i="1" dirty="0"/>
                        <a:t>Archivo Maestro de Monitoreo (AMM)</a:t>
                      </a:r>
                      <a:endParaRPr lang="es-CO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Insertar </a:t>
                      </a:r>
                      <a:r>
                        <a:rPr lang="es-CO" sz="1800" b="0" i="0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aca</a:t>
                      </a:r>
                      <a:r>
                        <a:rPr lang="es-CO" sz="1800" b="0" i="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el AMM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i="1" dirty="0"/>
                        <a:t>Manual</a:t>
                      </a:r>
                      <a:r>
                        <a:rPr lang="es-CO" sz="1800" i="1" baseline="0" dirty="0"/>
                        <a:t> de soporte aplicación</a:t>
                      </a:r>
                      <a:endParaRPr lang="es-CO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http://wikiti/wikiti/index.php/STI._Sistema_integrador_transaccional_-_STI_-_Manual_de_soporte_y_operaci%C3%B3n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800" i="1" dirty="0"/>
                        <a:t>Manual</a:t>
                      </a:r>
                      <a:r>
                        <a:rPr lang="es-CO" sz="1800" i="1" baseline="0" dirty="0"/>
                        <a:t> de usuario</a:t>
                      </a:r>
                      <a:endParaRPr lang="es-CO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http://wikiti/wikiti/index.php/Manual_de_usuario_-_STI_-_STI._Sistema_integrador_transaccional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61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presentacion-banco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5 Rectángulo"/>
          <p:cNvSpPr/>
          <p:nvPr/>
        </p:nvSpPr>
        <p:spPr>
          <a:xfrm>
            <a:off x="2411760" y="2276872"/>
            <a:ext cx="47525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031" lvl="1" algn="ctr"/>
            <a:r>
              <a:rPr lang="es-CO" sz="4800" dirty="0">
                <a:solidFill>
                  <a:srgbClr val="4F81BD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Gracias!!!!!</a:t>
            </a:r>
            <a:endParaRPr lang="es-ES" sz="4800" b="1" kern="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83395" y="0"/>
            <a:ext cx="2160605" cy="100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371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B131BFF6E1544DA85AD9F1C9CC773F" ma:contentTypeVersion="4" ma:contentTypeDescription="Create a new document." ma:contentTypeScope="" ma:versionID="b868c089c679dbcabb006a2b746a6084">
  <xsd:schema xmlns:xsd="http://www.w3.org/2001/XMLSchema" xmlns:xs="http://www.w3.org/2001/XMLSchema" xmlns:p="http://schemas.microsoft.com/office/2006/metadata/properties" xmlns:ns2="c988bae6-b5c8-45e1-8884-02ec9f9f9ac7" xmlns:ns3="92ed4aa4-5a66-4066-9985-36842f001a65" targetNamespace="http://schemas.microsoft.com/office/2006/metadata/properties" ma:root="true" ma:fieldsID="33e21ecb75f9bf61c8ef9984c9583dd3" ns2:_="" ns3:_="">
    <xsd:import namespace="c988bae6-b5c8-45e1-8884-02ec9f9f9ac7"/>
    <xsd:import namespace="92ed4aa4-5a66-4066-9985-36842f001a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88bae6-b5c8-45e1-8884-02ec9f9f9a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d4aa4-5a66-4066-9985-36842f001a6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D00465-D6E9-4A09-9958-BBF8D82186FF}"/>
</file>

<file path=customXml/itemProps2.xml><?xml version="1.0" encoding="utf-8"?>
<ds:datastoreItem xmlns:ds="http://schemas.openxmlformats.org/officeDocument/2006/customXml" ds:itemID="{54B5D2FB-BF94-430B-838C-91EFBF8C036E}">
  <ds:schemaRefs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F486C70-A2F1-4940-92B3-8C061F48D83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4817</TotalTime>
  <Words>570</Words>
  <Application>Microsoft Office PowerPoint</Application>
  <PresentationFormat>Presentación en pantalla (4:3)</PresentationFormat>
  <Paragraphs>105</Paragraphs>
  <Slides>12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Tahoma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Grupo Bancolombia S.A.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Camilo Rpo S</dc:creator>
  <cp:lastModifiedBy>Francisco Javier Cardenas Betancur</cp:lastModifiedBy>
  <cp:revision>253</cp:revision>
  <dcterms:created xsi:type="dcterms:W3CDTF">2012-06-28T19:35:19Z</dcterms:created>
  <dcterms:modified xsi:type="dcterms:W3CDTF">2018-08-16T16:20:21Z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0x01010025B131BFF6E1544DA85AD9F1C9CC773F</vt:lpwstr>
  </property>
</Properties>
</file>